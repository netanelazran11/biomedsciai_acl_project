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966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1A263A"/>
                </a:solidFill>
              </a:rPr>
              <a:t>Data Pipeline &amp; NaN Handling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146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7AC2"/>
                </a:solidFill>
              </a:rPr>
              <a:t>MethylLlama Pretraining on the 49k CpG Union Corpus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3246120"/>
            <a:ext cx="4846320" cy="36576"/>
          </a:xfrm>
          <a:prstGeom prst="rect">
            <a:avLst/>
          </a:prstGeom>
          <a:solidFill>
            <a:srgbClr val="CC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3401568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3A4A5C"/>
                </a:solidFill>
              </a:rPr>
              <a:t>How missing measurements (NaN) flow through the pipeline
and are correctly excluded from the reconstruction loss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120640"/>
            <a:ext cx="9418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88FA8"/>
                </a:solidFill>
              </a:rPr>
              <a:t>Netanel Azran  |  BMFM-RNA Methylation  |  Hebrew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468112"/>
            <a:ext cx="9418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7AC2"/>
                </a:solidFill>
              </a:rPr>
              <a:t>Run: llama-small-all49k-r0.5-w0.0-44450919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63A"/>
                </a:solidFill>
              </a:rPr>
              <a:t>The Two Datasets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788FA8"/>
                </a:solidFill>
              </a:rPr>
              <a:t>Pretrain: 169k samples × 49k CpGs   |   Fine-tune: 11.5k samples × 49k CpGs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11155680" cy="22860"/>
          </a:xfrm>
          <a:prstGeom prst="rect">
            <a:avLst/>
          </a:prstGeom>
          <a:solidFill>
            <a:srgbClr val="CC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5394960" cy="5212080"/>
          </a:xfrm>
          <a:prstGeom prst="rect">
            <a:avLst/>
          </a:prstGeom>
          <a:solidFill>
            <a:srgbClr val="F2F6FB"/>
          </a:solidFill>
          <a:ln w="12700">
            <a:solidFill>
              <a:srgbClr val="007A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5394960" cy="54864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1371600" cy="27432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71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F80"/>
                </a:solidFill>
              </a:rPr>
              <a:t>PRETRAINING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7556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263A"/>
                </a:solidFill>
              </a:rPr>
              <a:t>169,120 samples × 49,156 CpGs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30428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AC2"/>
                </a:solidFill>
              </a:rPr>
              <a:t>📁 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304288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</a:rPr>
              <a:t>methylgpt_pretrain_type3.h5ad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72491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AC2"/>
                </a:solidFill>
              </a:rPr>
              <a:t>⚙  Script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2724912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</a:rPr>
              <a:t>pretrain_llama_small.sh  →  pretrain_llama.py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145536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AC2"/>
                </a:solidFill>
              </a:rPr>
              <a:t>🔷 Module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3145536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</a:rPr>
              <a:t>WCEDLlamaModule  (wced_llama.py)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5661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AC2"/>
                </a:solidFill>
              </a:rPr>
              <a:t>📐 Architecture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3566160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</a:rPr>
              <a:t>256D × 4L × 4H  ≈ 5M params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986784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AC2"/>
                </a:solidFill>
              </a:rPr>
              <a:t>🎯 Input ratio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3986784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</a:rPr>
              <a:t>0.5  — 50% of valid CpGs per 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40740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AC2"/>
                </a:solidFill>
              </a:rPr>
              <a:t>🏋  Age weight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4407408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</a:rPr>
              <a:t>0.0  — pure reconstruction pretraining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82803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AC2"/>
                </a:solidFill>
              </a:rPr>
              <a:t>🔖 Job 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4828032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</a:rPr>
              <a:t>44450919  (7-day run)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1280160"/>
            <a:ext cx="5394960" cy="5212080"/>
          </a:xfrm>
          <a:prstGeom prst="rect">
            <a:avLst/>
          </a:prstGeom>
          <a:solidFill>
            <a:srgbClr val="E8F4ED"/>
          </a:solidFill>
          <a:ln w="12700">
            <a:solidFill>
              <a:srgbClr val="008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1280160"/>
            <a:ext cx="5394960" cy="54864"/>
          </a:xfrm>
          <a:prstGeom prst="rect">
            <a:avLst/>
          </a:prstGeom>
          <a:solidFill>
            <a:srgbClr val="00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37960" y="1371600"/>
            <a:ext cx="1371600" cy="274320"/>
          </a:xfrm>
          <a:prstGeom prst="rect">
            <a:avLst/>
          </a:prstGeom>
          <a:solidFill>
            <a:srgbClr val="D5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1371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6045"/>
                </a:solidFill>
              </a:rPr>
              <a:t>FINE-TUNING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17556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263A"/>
                </a:solidFill>
              </a:rPr>
              <a:t>11,500 samples × 49,156 CpGs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230428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F6A"/>
                </a:solidFill>
              </a:rPr>
              <a:t>📁 File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2304288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</a:rPr>
              <a:t>finetuning_49k.h5ad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272491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F6A"/>
                </a:solidFill>
              </a:rPr>
              <a:t>⚙  Script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2724912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</a:rPr>
              <a:t>finetune_llama_small.sh  →  finetune_llama.py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3145536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F6A"/>
                </a:solidFill>
              </a:rPr>
              <a:t>🔷 Module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3145536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</a:rPr>
              <a:t>WCEDLlamaModule  (wced_llama.py)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35661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F6A"/>
                </a:solidFill>
              </a:rPr>
              <a:t>📐 Pooling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60" y="3566160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</a:rPr>
              <a:t>Mean over all tokens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3986784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F6A"/>
                </a:solidFill>
              </a:rPr>
              <a:t>🎯 Input ratio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8160" y="3986784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</a:rPr>
              <a:t>1.0  — all valid CpGs as input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440740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F6A"/>
                </a:solidFill>
              </a:rPr>
              <a:t>🏋  Recon weight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38160" y="4407408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</a:rPr>
              <a:t>0.0  — age MSE loss only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29400" y="482803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F6A"/>
                </a:solidFill>
              </a:rPr>
              <a:t>❄  Encoder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38160" y="4828032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</a:rPr>
              <a:t>Frozen  (unfrozen after epoch 10)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59552" y="3291840"/>
            <a:ext cx="777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7AC2"/>
                </a:solidFill>
              </a:rPr>
              <a:t>Same
49k vocab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63A"/>
                </a:solidFill>
              </a:rPr>
              <a:t>Why NaN Exists — The Illumina Array Union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788FA8"/>
                </a:solidFill>
              </a:rPr>
              <a:t>Each sample was measured on ONE array type → other probes are structurally missing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11155680" cy="22860"/>
          </a:xfrm>
          <a:prstGeom prst="rect">
            <a:avLst/>
          </a:prstGeom>
          <a:solidFill>
            <a:srgbClr val="CC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2468880" cy="1417320"/>
          </a:xfrm>
          <a:prstGeom prst="rect">
            <a:avLst/>
          </a:prstGeom>
          <a:solidFill>
            <a:srgbClr val="FDEAC8"/>
          </a:solidFill>
          <a:ln w="12700">
            <a:solidFill>
              <a:srgbClr val="D47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47E00"/>
                </a:solidFill>
              </a:rPr>
              <a:t>27k Array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1051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4A5C"/>
                </a:solidFill>
              </a:rPr>
              <a:t>~27,000 probes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031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88FA8"/>
                </a:solidFill>
              </a:rPr>
              <a:t>Legacy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77063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7AC2"/>
                </a:solidFill>
              </a:rPr>
              <a:t>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325880"/>
            <a:ext cx="2468880" cy="1417320"/>
          </a:xfrm>
          <a:prstGeom prst="rect">
            <a:avLst/>
          </a:prstGeom>
          <a:solidFill>
            <a:srgbClr val="D6EAF8"/>
          </a:solidFill>
          <a:ln w="12700">
            <a:solidFill>
              <a:srgbClr val="007A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141732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7AC2"/>
                </a:solidFill>
              </a:rPr>
              <a:t>450k Array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181051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4A5C"/>
                </a:solidFill>
              </a:rPr>
              <a:t>~450,000 probes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1031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88FA8"/>
                </a:solidFill>
              </a:rPr>
              <a:t>2012–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277063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7AC2"/>
                </a:solidFill>
              </a:rPr>
              <a:t>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1325880"/>
            <a:ext cx="2468880" cy="1417320"/>
          </a:xfrm>
          <a:prstGeom prst="rect">
            <a:avLst/>
          </a:prstGeom>
          <a:solidFill>
            <a:srgbClr val="D5F0E4"/>
          </a:solidFill>
          <a:ln w="12700">
            <a:solidFill>
              <a:srgbClr val="008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141732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8F6A"/>
                </a:solidFill>
              </a:rPr>
              <a:t>EPIC Array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181051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4A5C"/>
                </a:solidFill>
              </a:rPr>
              <a:t>~850,000 probes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21031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88FA8"/>
                </a:solidFill>
              </a:rPr>
              <a:t>2016–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277063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7AC2"/>
                </a:solidFill>
              </a:rPr>
              <a:t>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163824"/>
            <a:ext cx="7955279" cy="685800"/>
          </a:xfrm>
          <a:prstGeom prst="rect">
            <a:avLst/>
          </a:prstGeom>
          <a:solidFill>
            <a:srgbClr val="D6EAF8"/>
          </a:solidFill>
          <a:ln w="12700">
            <a:solidFill>
              <a:srgbClr val="007A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255264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4F80"/>
                </a:solidFill>
              </a:rPr>
              <a:t>Union of all studies  →  49,156 CpGs in shared vocabulary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33375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7AC2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2560" y="3163824"/>
            <a:ext cx="2743200" cy="685800"/>
          </a:xfrm>
          <a:prstGeom prst="rect">
            <a:avLst/>
          </a:prstGeom>
          <a:solidFill>
            <a:srgbClr val="FAD7D7"/>
          </a:solidFill>
          <a:ln w="12700">
            <a:solidFill>
              <a:srgbClr val="C0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0" y="325526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030"/>
                </a:solidFill>
              </a:rPr>
              <a:t>NaN where not measured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0416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AC2"/>
                </a:solidFill>
              </a:rPr>
              <a:t>PER-SAMPLE BREAKDOWN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343400"/>
            <a:ext cx="11338560" cy="2148840"/>
          </a:xfrm>
          <a:prstGeom prst="rect">
            <a:avLst/>
          </a:prstGeom>
          <a:solidFill>
            <a:srgbClr val="F2F6FB"/>
          </a:solidFill>
          <a:ln w="12700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3891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88FA8"/>
                </a:solidFill>
              </a:rPr>
              <a:t>Sample type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43891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88FA8"/>
                </a:solidFill>
              </a:rPr>
              <a:t>Valid CpGs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43891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88FA8"/>
                </a:solidFill>
              </a:rPr>
              <a:t>NaN positions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43891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88FA8"/>
                </a:solidFill>
              </a:rPr>
              <a:t>NaN rate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49840" y="43891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88FA8"/>
                </a:solidFill>
              </a:rPr>
              <a:t>Typical 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736592"/>
            <a:ext cx="11338560" cy="18288"/>
          </a:xfrm>
          <a:prstGeom prst="rect">
            <a:avLst/>
          </a:prstGeom>
          <a:solidFill>
            <a:srgbClr val="CC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4773168"/>
            <a:ext cx="11338560" cy="512064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4864608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4A5C"/>
                </a:solidFill>
              </a:rPr>
              <a:t>450k-array sample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91840" y="4864608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8F6A"/>
                </a:solidFill>
              </a:rPr>
              <a:t>~19,600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77840" y="4864608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3030"/>
                </a:solidFill>
              </a:rPr>
              <a:t>~29,556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63840" y="4864608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3030"/>
                </a:solidFill>
              </a:rPr>
              <a:t>~60%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49840" y="4864608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88FA8"/>
                </a:solidFill>
              </a:rPr>
              <a:t>Most legacy EWAS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5303520"/>
            <a:ext cx="1133856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539496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4A5C"/>
                </a:solidFill>
              </a:rPr>
              <a:t>EPIC-array sample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91840" y="5394960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8F6A"/>
                </a:solidFill>
              </a:rPr>
              <a:t>~40,000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77840" y="5394960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3030"/>
                </a:solidFill>
              </a:rPr>
              <a:t>~9,156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63840" y="5394960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7E00"/>
                </a:solidFill>
              </a:rPr>
              <a:t>~19%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49840" y="5394960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88FA8"/>
                </a:solidFill>
              </a:rPr>
              <a:t>Modern arrays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5833872"/>
            <a:ext cx="11338560" cy="512064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5925312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4A5C"/>
                </a:solidFill>
              </a:rPr>
              <a:t>27k-array sample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91840" y="5925312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8F6A"/>
                </a:solidFill>
              </a:rPr>
              <a:t>~27,000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77840" y="5925312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3030"/>
                </a:solidFill>
              </a:rPr>
              <a:t>~22,156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63840" y="5925312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7E00"/>
                </a:solidFill>
              </a:rPr>
              <a:t>~45%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49840" y="5925312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88FA8"/>
                </a:solidFill>
              </a:rPr>
              <a:t>Older datasets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492240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8F6A"/>
                </a:solidFill>
              </a:rPr>
              <a:t>★  From pretrain valid_pct ≈ 42%  →  NaN rate ≈ 16%  (pretrain corpus is mostly well-measured EPIC-array samples)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63A"/>
                </a:solidFill>
              </a:rPr>
              <a:t>Full Pipeline — NaN Handling at Each Stage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788FA8"/>
                </a:solidFill>
              </a:rPr>
              <a:t>From raw file to loss function: where NaN is detected, imputed, and excluded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11155680" cy="22860"/>
          </a:xfrm>
          <a:prstGeom prst="rect">
            <a:avLst/>
          </a:prstGeom>
          <a:solidFill>
            <a:srgbClr val="CC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2029968" cy="1737360"/>
          </a:xfrm>
          <a:prstGeom prst="rect">
            <a:avLst/>
          </a:prstGeom>
          <a:solidFill>
            <a:srgbClr val="D6EAF8"/>
          </a:solidFill>
          <a:ln w="12700">
            <a:solidFill>
              <a:srgbClr val="007A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99032"/>
            <a:ext cx="822960" cy="246888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99032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73352"/>
            <a:ext cx="18470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AC2"/>
                </a:solidFill>
              </a:rPr>
              <a:t>h5ad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075688"/>
            <a:ext cx="184708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4A5C"/>
                </a:solidFill>
              </a:rPr>
              <a:t>methylgpt_pretrain
_type3.h5ad
169k × 49k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13432" y="19842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7AC2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68880" y="1325880"/>
            <a:ext cx="2029968" cy="1737360"/>
          </a:xfrm>
          <a:prstGeom prst="rect">
            <a:avLst/>
          </a:prstGeom>
          <a:solidFill>
            <a:srgbClr val="FDEAC8"/>
          </a:solidFill>
          <a:ln w="12700">
            <a:solidFill>
              <a:srgbClr val="D47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60320" y="1399032"/>
            <a:ext cx="822960" cy="246888"/>
          </a:xfrm>
          <a:prstGeom prst="rect">
            <a:avLst/>
          </a:prstGeom>
          <a:solidFill>
            <a:srgbClr val="D4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60320" y="1399032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1673352"/>
            <a:ext cx="18470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7E00"/>
                </a:solidFill>
              </a:rPr>
              <a:t>MethylationDataset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2075688"/>
            <a:ext cx="184708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4A5C"/>
                </a:solidFill>
              </a:rPr>
              <a:t>Reads β values
Computes valid_mask
= isfinite(β)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19842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7AC2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1325880"/>
            <a:ext cx="2029968" cy="1737360"/>
          </a:xfrm>
          <a:prstGeom prst="rect">
            <a:avLst/>
          </a:prstGeom>
          <a:solidFill>
            <a:srgbClr val="D5F0E4"/>
          </a:solidFill>
          <a:ln w="12700">
            <a:solidFill>
              <a:srgbClr val="008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54880" y="1399032"/>
            <a:ext cx="822960" cy="246888"/>
          </a:xfrm>
          <a:prstGeom prst="rect">
            <a:avLst/>
          </a:prstGeom>
          <a:solidFill>
            <a:srgbClr val="00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0" y="1399032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Step 2a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1673352"/>
            <a:ext cx="18470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F6A"/>
                </a:solidFill>
              </a:rPr>
              <a:t>WCEDCollator  2a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2075688"/>
            <a:ext cx="184708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4A5C"/>
                </a:solidFill>
              </a:rPr>
              <a:t>NaN → 0 in targets
valid_mask stored
in batch dict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02552" y="19842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7AC2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1325880"/>
            <a:ext cx="2029968" cy="1737360"/>
          </a:xfrm>
          <a:prstGeom prst="rect">
            <a:avLst/>
          </a:prstGeom>
          <a:solidFill>
            <a:srgbClr val="EEE0F8"/>
          </a:solidFill>
          <a:ln w="12700">
            <a:solidFill>
              <a:srgbClr val="6A28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49440" y="1399032"/>
            <a:ext cx="822960" cy="246888"/>
          </a:xfrm>
          <a:prstGeom prst="rect">
            <a:avLst/>
          </a:prstGeom>
          <a:solidFill>
            <a:srgbClr val="6A2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1399032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Step 2b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1673352"/>
            <a:ext cx="18470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A289A"/>
                </a:solidFill>
              </a:rPr>
              <a:t>WCEDCollator  2b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075688"/>
            <a:ext cx="184708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4A5C"/>
                </a:solidFill>
              </a:rPr>
              <a:t>Input views built
from valid CpGs only
(NaN never tokenised)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7112" y="19842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7AC2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52560" y="1325880"/>
            <a:ext cx="2029968" cy="1737360"/>
          </a:xfrm>
          <a:prstGeom prst="rect">
            <a:avLst/>
          </a:prstGeom>
          <a:solidFill>
            <a:srgbClr val="D6EAF8"/>
          </a:solidFill>
          <a:ln w="12700">
            <a:solidFill>
              <a:srgbClr val="007A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44000" y="1399032"/>
            <a:ext cx="822960" cy="246888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0" y="1399032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1673352"/>
            <a:ext cx="18470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AC2"/>
                </a:solidFill>
              </a:rPr>
              <a:t>WCEDLlamaModule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2075688"/>
            <a:ext cx="184708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4A5C"/>
                </a:solidFill>
              </a:rPr>
              <a:t>recon_mask =
~input_mask
&amp; valid_mask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32735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AC2"/>
                </a:solidFill>
              </a:rPr>
              <a:t>CpG POSITIONS — THREE CATEGORIES PER SAMPLE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611880"/>
            <a:ext cx="3749039" cy="2926080"/>
          </a:xfrm>
          <a:prstGeom prst="rect">
            <a:avLst/>
          </a:prstGeom>
          <a:solidFill>
            <a:srgbClr val="FDEAC8"/>
          </a:solidFill>
          <a:ln w="12700">
            <a:solidFill>
              <a:srgbClr val="D47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5760" y="3611880"/>
            <a:ext cx="3749039" cy="45720"/>
          </a:xfrm>
          <a:prstGeom prst="rect">
            <a:avLst/>
          </a:prstGeom>
          <a:solidFill>
            <a:srgbClr val="D4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37033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47E00"/>
                </a:solidFill>
              </a:rPr>
              <a:t>In input view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4133087"/>
            <a:ext cx="33832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</a:rPr>
              <a:t>~20.5k positions
50% of valid CpGs
shown to encoder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4974336"/>
            <a:ext cx="3108960" cy="22860"/>
          </a:xfrm>
          <a:prstGeom prst="rect">
            <a:avLst/>
          </a:prstGeom>
          <a:solidFill>
            <a:srgbClr val="D4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502920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7E00"/>
                </a:solidFill>
              </a:rPr>
              <a:t>EXCLUDED from recon loss
(encoder already saw it)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97680" y="3611880"/>
            <a:ext cx="3749039" cy="2926080"/>
          </a:xfrm>
          <a:prstGeom prst="rect">
            <a:avLst/>
          </a:prstGeom>
          <a:solidFill>
            <a:srgbClr val="D5F0E4"/>
          </a:solidFill>
          <a:ln w="12700">
            <a:solidFill>
              <a:srgbClr val="008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297680" y="3611880"/>
            <a:ext cx="3749039" cy="45720"/>
          </a:xfrm>
          <a:prstGeom prst="rect">
            <a:avLst/>
          </a:prstGeom>
          <a:solidFill>
            <a:srgbClr val="00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80560" y="37033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8F6A"/>
                </a:solidFill>
              </a:rPr>
              <a:t>Valid — held out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80560" y="4133087"/>
            <a:ext cx="33832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</a:rPr>
              <a:t>~20.5k positions
50% of valid CpGs
not in input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480560" y="4974336"/>
            <a:ext cx="3108960" cy="22860"/>
          </a:xfrm>
          <a:prstGeom prst="rect">
            <a:avLst/>
          </a:prstGeom>
          <a:solidFill>
            <a:srgbClr val="00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80560" y="502920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F6A"/>
                </a:solidFill>
              </a:rPr>
              <a:t>INCLUDED in recon loss ✓
Real β target  →  true signal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29600" y="3611880"/>
            <a:ext cx="3749039" cy="2926080"/>
          </a:xfrm>
          <a:prstGeom prst="rect">
            <a:avLst/>
          </a:prstGeom>
          <a:solidFill>
            <a:srgbClr val="FAD7D7"/>
          </a:solidFill>
          <a:ln w="12700">
            <a:solidFill>
              <a:srgbClr val="C0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229600" y="3611880"/>
            <a:ext cx="3749039" cy="45720"/>
          </a:xfrm>
          <a:prstGeom prst="rect">
            <a:avLst/>
          </a:prstGeom>
          <a:solidFill>
            <a:srgbClr val="C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12480" y="37033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3030"/>
                </a:solidFill>
              </a:rPr>
              <a:t>NaN position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12480" y="4133087"/>
            <a:ext cx="33832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</a:rPr>
              <a:t>~8k positions
never measured
target = 0.0 (imputed)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412480" y="4974336"/>
            <a:ext cx="3108960" cy="22860"/>
          </a:xfrm>
          <a:prstGeom prst="rect">
            <a:avLst/>
          </a:prstGeom>
          <a:solidFill>
            <a:srgbClr val="C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12480" y="502920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030"/>
                </a:solidFill>
              </a:rPr>
              <a:t>EXCLUDED by valid_mask ✓
No gradient from fake zeros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63A"/>
                </a:solidFill>
              </a:rPr>
              <a:t>Step 1 — MethylationDataset: Reading the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788FA8"/>
                </a:solidFill>
              </a:rPr>
              <a:t>bmfm_methylation/shared/data_module.py  ·  MethylationDataset.__getitem__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11155680" cy="22860"/>
          </a:xfrm>
          <a:prstGeom prst="rect">
            <a:avLst/>
          </a:prstGeom>
          <a:solidFill>
            <a:srgbClr val="CC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2560320" cy="1645920"/>
          </a:xfrm>
          <a:prstGeom prst="rect">
            <a:avLst/>
          </a:prstGeom>
          <a:solidFill>
            <a:srgbClr val="F2F6FB"/>
          </a:solidFill>
          <a:ln w="12700">
            <a:solidFill>
              <a:srgbClr val="007A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AC2"/>
                </a:solidFill>
              </a:rPr>
              <a:t>📄  adata.X[idx]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47088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</a:rPr>
              <a:t>Raw row from h5ad
49,156 float values
Sparse or dense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1920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7AC2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79" y="1325880"/>
            <a:ext cx="2560320" cy="1645920"/>
          </a:xfrm>
          <a:prstGeom prst="rect">
            <a:avLst/>
          </a:prstGeom>
          <a:solidFill>
            <a:srgbClr val="F2F6FB"/>
          </a:solidFill>
          <a:ln w="12700">
            <a:solidFill>
              <a:srgbClr val="007A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39" y="14173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AC2"/>
                </a:solidFill>
              </a:rPr>
              <a:t>🔢  float32 array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39" y="1847088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</a:rPr>
              <a:t>Convert to numpy
float32 array
shape: (49156,)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19" y="1920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7AC2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325880"/>
            <a:ext cx="2560320" cy="1645920"/>
          </a:xfrm>
          <a:prstGeom prst="rect">
            <a:avLst/>
          </a:prstGeom>
          <a:solidFill>
            <a:srgbClr val="F2F6FB"/>
          </a:solidFill>
          <a:ln w="12700">
            <a:solidFill>
              <a:srgbClr val="007A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4173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AC2"/>
                </a:solidFill>
              </a:rPr>
              <a:t>🔍  isfinite(β)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1847088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</a:rPr>
              <a:t>np.isfinite(beta_values)
True  = real value
False = NaN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6432" y="299923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7AC2"/>
                </a:solidFill>
              </a:rPr>
              <a:t>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3401568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88FA8"/>
                </a:solidFill>
              </a:rPr>
              <a:t>Two outputs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3639312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7AC2"/>
                </a:solidFill>
              </a:rPr>
              <a:t>↙         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0" y="4041648"/>
            <a:ext cx="2560320" cy="1508760"/>
          </a:xfrm>
          <a:prstGeom prst="rect">
            <a:avLst/>
          </a:prstGeom>
          <a:solidFill>
            <a:srgbClr val="FDEAC8"/>
          </a:solidFill>
          <a:ln w="12700">
            <a:solidFill>
              <a:srgbClr val="D47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65960" y="4133087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7E00"/>
                </a:solidFill>
              </a:rPr>
              <a:t>beta_values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65960" y="4498848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</a:rPr>
              <a:t>Shape: (49156,)  float32
NaN values preserved
Passed to collator as-is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37760" y="4041648"/>
            <a:ext cx="2560320" cy="1508760"/>
          </a:xfrm>
          <a:prstGeom prst="rect">
            <a:avLst/>
          </a:prstGeom>
          <a:solidFill>
            <a:srgbClr val="D5F0E4"/>
          </a:solidFill>
          <a:ln w="12700">
            <a:solidFill>
              <a:srgbClr val="008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74920" y="4133087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F6A"/>
                </a:solidFill>
              </a:rPr>
              <a:t>valid_mask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20" y="4498848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</a:rPr>
              <a:t>Shape: (49156,)  bool
True = measured
False = NaN position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80" y="1325880"/>
            <a:ext cx="3566160" cy="4251960"/>
          </a:xfrm>
          <a:prstGeom prst="rect">
            <a:avLst/>
          </a:prstGeom>
          <a:solidFill>
            <a:srgbClr val="F2F6FB"/>
          </a:solidFill>
          <a:ln w="12700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49640" y="14447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47E00"/>
                </a:solidFill>
              </a:rPr>
              <a:t>WHY THIS DESIGN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1810512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4A5C"/>
                </a:solidFill>
              </a:rPr>
              <a:t>●  NaN is preserved — not replaced here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2487168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4A5C"/>
                </a:solidFill>
              </a:rPr>
              <a:t>●  valid_mask is computed while NaN is still visible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9640" y="3163824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4A5C"/>
                </a:solidFill>
              </a:rPr>
              <a:t>●  If we replaced NaN→0 first, the mask would be wrong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49640" y="3840479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4A5C"/>
                </a:solidFill>
              </a:rPr>
              <a:t>●  Separation of concerns: Dataset reads, Collator decides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49640" y="4517136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4A5C"/>
                </a:solidFill>
              </a:rPr>
              <a:t>●  valid_mask travels through the batch dict to the loss fn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742432"/>
            <a:ext cx="7909560" cy="502920"/>
          </a:xfrm>
          <a:prstGeom prst="rect">
            <a:avLst/>
          </a:prstGeom>
          <a:solidFill>
            <a:srgbClr val="D5F0E4"/>
          </a:solidFill>
          <a:ln w="12700">
            <a:solidFill>
              <a:srgbClr val="008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5806440"/>
            <a:ext cx="7635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045"/>
                </a:solidFill>
              </a:rPr>
              <a:t>After Step 1:   beta_values contains NaN  ·  valid_mask = True/False array  ·  both in MultiFieldInstance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63A"/>
                </a:solidFill>
              </a:rPr>
              <a:t>Step 2a — WCEDCollator: NaN Detection &amp; Replacement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788FA8"/>
                </a:solidFill>
              </a:rPr>
              <a:t>bmfm_methylation/shared/data_module.py  ·  WCEDCollator.__call__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11155680" cy="22860"/>
          </a:xfrm>
          <a:prstGeom prst="rect">
            <a:avLst/>
          </a:prstGeom>
          <a:solidFill>
            <a:srgbClr val="CC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AC2"/>
                </a:solidFill>
              </a:rPr>
              <a:t>VISUAL EXAMPLE — ONE SAMPLE ROW (6 CpGs shown)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7276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A4A5C"/>
                </a:solidFill>
              </a:rPr>
              <a:t>Input (beta_values):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1572768"/>
            <a:ext cx="914400" cy="347472"/>
          </a:xfrm>
          <a:prstGeom prst="rect">
            <a:avLst/>
          </a:prstGeom>
          <a:solidFill>
            <a:srgbClr val="D5F0E4"/>
          </a:solidFill>
          <a:ln w="12700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157276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6045"/>
                </a:solidFill>
              </a:rPr>
              <a:t>0.23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58768" y="1572768"/>
            <a:ext cx="914400" cy="347472"/>
          </a:xfrm>
          <a:prstGeom prst="rect">
            <a:avLst/>
          </a:prstGeom>
          <a:solidFill>
            <a:srgbClr val="FAD7D7"/>
          </a:solidFill>
          <a:ln w="12700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58768" y="157276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03030"/>
                </a:solidFill>
              </a:rPr>
              <a:t>NaN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82896" y="1572768"/>
            <a:ext cx="914400" cy="347472"/>
          </a:xfrm>
          <a:prstGeom prst="rect">
            <a:avLst/>
          </a:prstGeom>
          <a:solidFill>
            <a:srgbClr val="D5F0E4"/>
          </a:solidFill>
          <a:ln w="12700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82896" y="157276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6045"/>
                </a:solidFill>
              </a:rPr>
              <a:t>0.87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07024" y="1572768"/>
            <a:ext cx="914400" cy="347472"/>
          </a:xfrm>
          <a:prstGeom prst="rect">
            <a:avLst/>
          </a:prstGeom>
          <a:solidFill>
            <a:srgbClr val="FAD7D7"/>
          </a:solidFill>
          <a:ln w="12700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07024" y="157276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03030"/>
                </a:solidFill>
              </a:rPr>
              <a:t>NaN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31152" y="1572768"/>
            <a:ext cx="914400" cy="347472"/>
          </a:xfrm>
          <a:prstGeom prst="rect">
            <a:avLst/>
          </a:prstGeom>
          <a:solidFill>
            <a:srgbClr val="D5F0E4"/>
          </a:solidFill>
          <a:ln w="12700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31152" y="157276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6045"/>
                </a:solidFill>
              </a:rPr>
              <a:t>0.61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5280" y="1572768"/>
            <a:ext cx="914400" cy="347472"/>
          </a:xfrm>
          <a:prstGeom prst="rect">
            <a:avLst/>
          </a:prstGeom>
          <a:solidFill>
            <a:srgbClr val="FAD7D7"/>
          </a:solidFill>
          <a:ln w="12700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0" y="157276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03030"/>
                </a:solidFill>
              </a:rPr>
              <a:t>NaN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195681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7AC2"/>
                </a:solidFill>
              </a:rPr>
              <a:t>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2304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7AC2"/>
                </a:solidFill>
              </a:rPr>
              <a:t>np.where(valid, β, 0.0)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254203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7AC2"/>
                </a:solidFill>
              </a:rPr>
              <a:t>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287121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A4A5C"/>
                </a:solidFill>
              </a:rPr>
              <a:t>all_betas (target):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34640" y="2871216"/>
            <a:ext cx="914400" cy="347472"/>
          </a:xfrm>
          <a:prstGeom prst="rect">
            <a:avLst/>
          </a:prstGeom>
          <a:solidFill>
            <a:srgbClr val="D5F0E4"/>
          </a:solidFill>
          <a:ln w="12700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34640" y="287121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6045"/>
                </a:solidFill>
              </a:rPr>
              <a:t>0.23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58768" y="2871216"/>
            <a:ext cx="914400" cy="347472"/>
          </a:xfrm>
          <a:prstGeom prst="rect">
            <a:avLst/>
          </a:prstGeom>
          <a:solidFill>
            <a:srgbClr val="FDEAC8"/>
          </a:solidFill>
          <a:ln w="12700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58768" y="287121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A5A00"/>
                </a:solidFill>
              </a:rPr>
              <a:t>0.00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82896" y="2871216"/>
            <a:ext cx="914400" cy="347472"/>
          </a:xfrm>
          <a:prstGeom prst="rect">
            <a:avLst/>
          </a:prstGeom>
          <a:solidFill>
            <a:srgbClr val="D5F0E4"/>
          </a:solidFill>
          <a:ln w="12700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82896" y="287121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6045"/>
                </a:solidFill>
              </a:rPr>
              <a:t>0.87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07024" y="2871216"/>
            <a:ext cx="914400" cy="347472"/>
          </a:xfrm>
          <a:prstGeom prst="rect">
            <a:avLst/>
          </a:prstGeom>
          <a:solidFill>
            <a:srgbClr val="FDEAC8"/>
          </a:solidFill>
          <a:ln w="12700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07024" y="287121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A5A00"/>
                </a:solidFill>
              </a:rPr>
              <a:t>0.00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31152" y="2871216"/>
            <a:ext cx="914400" cy="347472"/>
          </a:xfrm>
          <a:prstGeom prst="rect">
            <a:avLst/>
          </a:prstGeom>
          <a:solidFill>
            <a:srgbClr val="D5F0E4"/>
          </a:solidFill>
          <a:ln w="12700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31152" y="287121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6045"/>
                </a:solidFill>
              </a:rPr>
              <a:t>0.61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55280" y="2871216"/>
            <a:ext cx="914400" cy="347472"/>
          </a:xfrm>
          <a:prstGeom prst="rect">
            <a:avLst/>
          </a:prstGeom>
          <a:solidFill>
            <a:srgbClr val="FDEAC8"/>
          </a:solidFill>
          <a:ln w="12700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55280" y="287121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A5A00"/>
                </a:solidFill>
              </a:rPr>
              <a:t>0.00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06840" y="287121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47E00"/>
                </a:solidFill>
              </a:rPr>
              <a:t>← NaN replaced with 0.0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336499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A4A5C"/>
                </a:solidFill>
              </a:rPr>
              <a:t>valid_mask: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34640" y="3364992"/>
            <a:ext cx="914400" cy="347472"/>
          </a:xfrm>
          <a:prstGeom prst="rect">
            <a:avLst/>
          </a:prstGeom>
          <a:solidFill>
            <a:srgbClr val="D5F0E4"/>
          </a:solidFill>
          <a:ln w="12700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34640" y="336499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6045"/>
                </a:solidFill>
              </a:rPr>
              <a:t>True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58768" y="3364992"/>
            <a:ext cx="914400" cy="347472"/>
          </a:xfrm>
          <a:prstGeom prst="rect">
            <a:avLst/>
          </a:prstGeom>
          <a:solidFill>
            <a:srgbClr val="FAD7D7"/>
          </a:solidFill>
          <a:ln w="12700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58768" y="336499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03030"/>
                </a:solidFill>
              </a:rPr>
              <a:t>False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882896" y="3364992"/>
            <a:ext cx="914400" cy="347472"/>
          </a:xfrm>
          <a:prstGeom prst="rect">
            <a:avLst/>
          </a:prstGeom>
          <a:solidFill>
            <a:srgbClr val="D5F0E4"/>
          </a:solidFill>
          <a:ln w="12700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82896" y="336499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6045"/>
                </a:solidFill>
              </a:rPr>
              <a:t>True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07024" y="3364992"/>
            <a:ext cx="914400" cy="347472"/>
          </a:xfrm>
          <a:prstGeom prst="rect">
            <a:avLst/>
          </a:prstGeom>
          <a:solidFill>
            <a:srgbClr val="FAD7D7"/>
          </a:solidFill>
          <a:ln w="12700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07024" y="336499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03030"/>
                </a:solidFill>
              </a:rPr>
              <a:t>False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931152" y="3364992"/>
            <a:ext cx="914400" cy="347472"/>
          </a:xfrm>
          <a:prstGeom prst="rect">
            <a:avLst/>
          </a:prstGeom>
          <a:solidFill>
            <a:srgbClr val="D5F0E4"/>
          </a:solidFill>
          <a:ln w="12700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31152" y="336499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6045"/>
                </a:solidFill>
              </a:rPr>
              <a:t>True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55280" y="3364992"/>
            <a:ext cx="914400" cy="347472"/>
          </a:xfrm>
          <a:prstGeom prst="rect">
            <a:avLst/>
          </a:prstGeom>
          <a:solidFill>
            <a:srgbClr val="FAD7D7"/>
          </a:solidFill>
          <a:ln w="12700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955280" y="336499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03030"/>
                </a:solidFill>
              </a:rPr>
              <a:t>False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06840" y="336499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8F6A"/>
                </a:solidFill>
              </a:rPr>
              <a:t>← passed in batch dict →  Step 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3913632"/>
            <a:ext cx="5349240" cy="1737360"/>
          </a:xfrm>
          <a:prstGeom prst="rect">
            <a:avLst/>
          </a:prstGeom>
          <a:solidFill>
            <a:srgbClr val="FDEAC8"/>
          </a:solidFill>
          <a:ln w="12700">
            <a:solidFill>
              <a:srgbClr val="D47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" y="3977639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A5A00"/>
                </a:solidFill>
              </a:rPr>
              <a:t>all_betas  — reconstruction target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434340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4A5C"/>
                </a:solidFill>
              </a:rPr>
              <a:t>Shape: [batch, 49156]   dtype: float32
Real positions: actual β ∈ [0, 1]
NaN positions: 0.0  (imputed — safe because valid_mask will exclude them from loss)
This is what the model tries to predict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26480" y="3913632"/>
            <a:ext cx="5715000" cy="1737360"/>
          </a:xfrm>
          <a:prstGeom prst="rect">
            <a:avLst/>
          </a:prstGeom>
          <a:solidFill>
            <a:srgbClr val="D5F0E4"/>
          </a:solidFill>
          <a:ln w="12700">
            <a:solidFill>
              <a:srgbClr val="008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63640" y="3977639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6045"/>
                </a:solidFill>
              </a:rPr>
              <a:t>valid_mask  — the critical guard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63640" y="4343400"/>
            <a:ext cx="5394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4A5C"/>
                </a:solidFill>
              </a:rPr>
              <a:t>Shape: [batch, 49156]   dtype: bool
True  = position was actually measured  →  include in loss
False = position was NaN                →  exclude from loss
Returned in batch dict  →  used in Step 3 to build recon_mask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5779008"/>
            <a:ext cx="11475720" cy="502920"/>
          </a:xfrm>
          <a:prstGeom prst="rect">
            <a:avLst/>
          </a:prstGeom>
          <a:solidFill>
            <a:srgbClr val="D5F0E4"/>
          </a:solidFill>
          <a:ln w="12700">
            <a:solidFill>
              <a:srgbClr val="008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02920" y="5843016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045"/>
                </a:solidFill>
              </a:rPr>
              <a:t>After Step 2a:   all_betas ready (NaN→0.0)  ·  valid_mask ready (True/False)  ·  both in batch dict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63A"/>
                </a:solidFill>
              </a:rPr>
              <a:t>Step 2b — WCEDCollator: Input View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788FA8"/>
                </a:solidFill>
              </a:rPr>
              <a:t>NaN positions are never tokenised — input is sampled from valid CpGs only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11155680" cy="22860"/>
          </a:xfrm>
          <a:prstGeom prst="rect">
            <a:avLst/>
          </a:prstGeom>
          <a:solidFill>
            <a:srgbClr val="CC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618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AC2"/>
                </a:solidFill>
              </a:rPr>
              <a:t>49,156 CpG VOCABULARY — BREAKDOWN PER SAMPLE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1784908" cy="658368"/>
          </a:xfrm>
          <a:prstGeom prst="rect">
            <a:avLst/>
          </a:prstGeom>
          <a:solidFill>
            <a:srgbClr val="FAD7D7"/>
          </a:solidFill>
          <a:ln w="19050">
            <a:solidFill>
              <a:srgbClr val="C0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16934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3030"/>
                </a:solidFill>
              </a:rPr>
              <a:t>NaN positions
~8k  (16%)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7828" y="1572768"/>
            <a:ext cx="4685385" cy="658368"/>
          </a:xfrm>
          <a:prstGeom prst="rect">
            <a:avLst/>
          </a:prstGeom>
          <a:solidFill>
            <a:srgbClr val="FDEAC8"/>
          </a:solidFill>
          <a:ln w="19050">
            <a:solidFill>
              <a:srgbClr val="D47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33548" y="1645920"/>
            <a:ext cx="459394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47E00"/>
                </a:solidFill>
              </a:rPr>
              <a:t>Input view
~20.5k  (42%)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73214" y="1572768"/>
            <a:ext cx="4685385" cy="658368"/>
          </a:xfrm>
          <a:prstGeom prst="rect">
            <a:avLst/>
          </a:prstGeom>
          <a:solidFill>
            <a:srgbClr val="D5F0E4"/>
          </a:solidFill>
          <a:ln w="19050">
            <a:solidFill>
              <a:srgbClr val="008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18934" y="1645920"/>
            <a:ext cx="459394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F6A"/>
                </a:solidFill>
              </a:rPr>
              <a:t>Held-out (recon target)
~20.5k  (42%)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4323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AC2"/>
                </a:solidFill>
              </a:rPr>
              <a:t>INPUT RATIO FORMULA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706624"/>
            <a:ext cx="6583680" cy="1371600"/>
          </a:xfrm>
          <a:prstGeom prst="rect">
            <a:avLst/>
          </a:prstGeom>
          <a:solidFill>
            <a:srgbClr val="F2F6FB"/>
          </a:solidFill>
          <a:ln w="12700">
            <a:solidFill>
              <a:srgbClr val="007A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761488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4A5C"/>
                </a:solidFill>
              </a:rPr>
              <a:t>valid_indices  =  positions where isfinite(β)  →  ~41k of 49k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127248"/>
            <a:ext cx="6309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AC2"/>
                </a:solidFill>
              </a:rPr>
              <a:t>n_input  =  int( len(valid_indices)  ×  input_ratio )
         =  int( 41,000  ×  0.5 )  =  20,500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639312"/>
            <a:ext cx="6309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47E00"/>
                </a:solidFill>
              </a:rPr>
              <a:t>input_ratio applied to valid CpGs  —  NOT to the full 49k vocabulary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86600" y="2432304"/>
            <a:ext cx="4800600" cy="1645920"/>
          </a:xfrm>
          <a:prstGeom prst="rect">
            <a:avLst/>
          </a:prstGeom>
          <a:solidFill>
            <a:srgbClr val="FDEAC8"/>
          </a:solidFill>
          <a:ln w="12700">
            <a:solidFill>
              <a:srgbClr val="D47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249631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A5A00"/>
                </a:solidFill>
              </a:rPr>
              <a:t>Why this matters for high-NaN samples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2852928"/>
            <a:ext cx="4572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4A5C"/>
                </a:solidFill>
              </a:rPr>
              <a:t>450k sample (60% NaN)  →  only 19.6k valid CpGs
n_input = 0.5 × 19.6k = 9.8k  (not 0.5 × 49k = 24.5k)
Always exactly 50% of what was measured is shown.
NaN positions NEVER appear as encoder input tokens.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2976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AC2"/>
                </a:solidFill>
              </a:rPr>
              <a:t>WHAT GETS ASSIGNED TO EACH CATEGORY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590288"/>
            <a:ext cx="3749039" cy="1874519"/>
          </a:xfrm>
          <a:prstGeom prst="rect">
            <a:avLst/>
          </a:prstGeom>
          <a:solidFill>
            <a:srgbClr val="FDEAC8"/>
          </a:solidFill>
          <a:ln w="12700">
            <a:solidFill>
              <a:srgbClr val="D47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6634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7E00"/>
                </a:solidFill>
              </a:rPr>
              <a:t>In input view
~n_input positions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13892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</a:rPr>
              <a:t>randomly sampled from valid_indices
input_ratio × |valid_indices|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632704"/>
            <a:ext cx="3108960" cy="18288"/>
          </a:xfrm>
          <a:prstGeom prst="rect">
            <a:avLst/>
          </a:prstGeom>
          <a:solidFill>
            <a:srgbClr val="D4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566928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7E00"/>
                </a:solidFill>
              </a:rPr>
              <a:t>→ encoder tokens
→ excluded from recon loss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80" y="4590288"/>
            <a:ext cx="3749039" cy="1874519"/>
          </a:xfrm>
          <a:prstGeom prst="rect">
            <a:avLst/>
          </a:prstGeom>
          <a:solidFill>
            <a:srgbClr val="D5F0E4"/>
          </a:solidFill>
          <a:ln w="12700">
            <a:solidFill>
              <a:srgbClr val="008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34840" y="46634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F6A"/>
                </a:solidFill>
              </a:rPr>
              <a:t>Valid — held out
remaining valid positions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513892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</a:rPr>
              <a:t>|valid_indices| - n_input positions
not sampled into input view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34840" y="5632704"/>
            <a:ext cx="3108960" cy="18288"/>
          </a:xfrm>
          <a:prstGeom prst="rect">
            <a:avLst/>
          </a:prstGeom>
          <a:solidFill>
            <a:srgbClr val="00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34840" y="566928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F6A"/>
                </a:solidFill>
              </a:rPr>
              <a:t>→ recon_mask = True
→ included in loss 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0" y="4590288"/>
            <a:ext cx="3749039" cy="1874519"/>
          </a:xfrm>
          <a:prstGeom prst="rect">
            <a:avLst/>
          </a:prstGeom>
          <a:solidFill>
            <a:srgbClr val="FAD7D7"/>
          </a:solidFill>
          <a:ln w="12700">
            <a:solidFill>
              <a:srgbClr val="C0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60" y="46634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030"/>
                </a:solidFill>
              </a:rPr>
              <a:t>NaN positions
never in valid_indices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513892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</a:rPr>
              <a:t>np.where(vocab_valid) returns only
non-NaN indices — NaN excluded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66760" y="5632704"/>
            <a:ext cx="3108960" cy="18288"/>
          </a:xfrm>
          <a:prstGeom prst="rect">
            <a:avLst/>
          </a:prstGeom>
          <a:solidFill>
            <a:srgbClr val="C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66760" y="566928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030"/>
                </a:solidFill>
              </a:rPr>
              <a:t>→ valid_mask = False
→ excluded from loss ✓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63A"/>
                </a:solidFill>
              </a:rPr>
              <a:t>Step 3 — WCEDLlamaModule: Correct Reconstruction Loss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788FA8"/>
                </a:solidFill>
              </a:rPr>
              <a:t>bmfm_methylation/llama/wced_llama.py  ·  _shared_step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11155680" cy="22860"/>
          </a:xfrm>
          <a:prstGeom prst="rect">
            <a:avLst/>
          </a:prstGeom>
          <a:solidFill>
            <a:srgbClr val="CC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618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AC2"/>
                </a:solidFill>
              </a:rPr>
              <a:t>HOW recon_mask IS BUILT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72768"/>
            <a:ext cx="2103120" cy="777240"/>
          </a:xfrm>
          <a:prstGeom prst="rect">
            <a:avLst/>
          </a:prstGeom>
          <a:solidFill>
            <a:srgbClr val="FDEAC8"/>
          </a:solidFill>
          <a:ln w="12700">
            <a:solidFill>
              <a:srgbClr val="D47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2763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D47E00"/>
                </a:solidFill>
              </a:rPr>
              <a:t>~input_mask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9339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88FA8"/>
                </a:solidFill>
              </a:rPr>
              <a:t>Positions NOT
shown to encoder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1627632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788FA8"/>
                </a:solidFill>
              </a:rPr>
              <a:t>AND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572768"/>
            <a:ext cx="2103120" cy="777240"/>
          </a:xfrm>
          <a:prstGeom prst="rect">
            <a:avLst/>
          </a:prstGeom>
          <a:solidFill>
            <a:srgbClr val="D5F0E4"/>
          </a:solidFill>
          <a:ln w="12700">
            <a:solidFill>
              <a:srgbClr val="008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62763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8F6A"/>
                </a:solidFill>
              </a:rPr>
              <a:t>valid_mask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199339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88FA8"/>
                </a:solidFill>
              </a:rPr>
              <a:t>Positions that were
actually measured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1627632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788FA8"/>
                </a:solidFill>
              </a:rPr>
              <a:t>=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1572768"/>
            <a:ext cx="2103120" cy="777240"/>
          </a:xfrm>
          <a:prstGeom prst="rect">
            <a:avLst/>
          </a:prstGeom>
          <a:solidFill>
            <a:srgbClr val="D6EAF8"/>
          </a:solidFill>
          <a:ln w="12700">
            <a:solidFill>
              <a:srgbClr val="007A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0" y="162763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7AC2"/>
                </a:solidFill>
              </a:rPr>
              <a:t>recon_mask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199339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88FA8"/>
                </a:solidFill>
              </a:rPr>
              <a:t>Positions included
in loss computation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254203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AC2"/>
                </a:solidFill>
              </a:rPr>
              <a:t>POSITION-BY-POSITION DECISION TABLE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816352"/>
            <a:ext cx="11475720" cy="530352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" y="2926080"/>
            <a:ext cx="2267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63A"/>
                </a:solidFill>
              </a:rPr>
              <a:t>Position type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16352" y="2926080"/>
            <a:ext cx="15361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63A"/>
                </a:solidFill>
              </a:rPr>
              <a:t>~Count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2272" y="2926080"/>
            <a:ext cx="15361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63A"/>
                </a:solidFill>
              </a:rPr>
              <a:t>Encoder sees?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08192" y="2926080"/>
            <a:ext cx="1719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63A"/>
                </a:solidFill>
              </a:rPr>
              <a:t>in ~input_mask?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36992" y="2926080"/>
            <a:ext cx="1719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63A"/>
                </a:solidFill>
              </a:rPr>
              <a:t>valid_mask?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65792" y="2926080"/>
            <a:ext cx="19933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63A"/>
                </a:solidFill>
              </a:rPr>
              <a:t>In recon loss?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346704"/>
            <a:ext cx="11475720" cy="22860"/>
          </a:xfrm>
          <a:prstGeom prst="rect">
            <a:avLst/>
          </a:prstGeom>
          <a:solidFill>
            <a:srgbClr val="CC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3369564"/>
            <a:ext cx="11475720" cy="530352"/>
          </a:xfrm>
          <a:prstGeom prst="rect">
            <a:avLst/>
          </a:prstGeom>
          <a:solidFill>
            <a:srgbClr val="FDE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" y="3479292"/>
            <a:ext cx="2267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7E00"/>
                </a:solidFill>
              </a:rPr>
              <a:t>In input 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16352" y="3479292"/>
            <a:ext cx="15361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4A5C"/>
                </a:solidFill>
              </a:rPr>
              <a:t>~20.5k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62272" y="3479292"/>
            <a:ext cx="15361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8F6A"/>
                </a:solidFill>
              </a:rPr>
              <a:t>✓  Yes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08192" y="3479292"/>
            <a:ext cx="1719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7E00"/>
                </a:solidFill>
              </a:rPr>
              <a:t>True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36992" y="3479292"/>
            <a:ext cx="1719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8F6A"/>
                </a:solidFill>
              </a:rPr>
              <a:t>True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65792" y="3479292"/>
            <a:ext cx="19933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3030"/>
                </a:solidFill>
              </a:rPr>
              <a:t>✗  NO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936492"/>
            <a:ext cx="11475720" cy="530352"/>
          </a:xfrm>
          <a:prstGeom prst="rect">
            <a:avLst/>
          </a:prstGeom>
          <a:solidFill>
            <a:srgbClr val="D5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" y="4046220"/>
            <a:ext cx="2267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8F6A"/>
                </a:solidFill>
              </a:rPr>
              <a:t>Valid — held out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16352" y="4046220"/>
            <a:ext cx="15361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4A5C"/>
                </a:solidFill>
              </a:rPr>
              <a:t>~20.5k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62272" y="4046220"/>
            <a:ext cx="15361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88FA8"/>
                </a:solidFill>
              </a:rPr>
              <a:t>✗  No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08192" y="4046220"/>
            <a:ext cx="1719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88FA8"/>
                </a:solidFill>
              </a:rPr>
              <a:t>False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36992" y="4046220"/>
            <a:ext cx="1719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8F6A"/>
                </a:solidFill>
              </a:rPr>
              <a:t>True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65792" y="4046220"/>
            <a:ext cx="19933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F6A"/>
                </a:solidFill>
              </a:rPr>
              <a:t>✓  YES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4503420"/>
            <a:ext cx="11475720" cy="530352"/>
          </a:xfrm>
          <a:prstGeom prst="rect">
            <a:avLst/>
          </a:prstGeom>
          <a:solidFill>
            <a:srgbClr val="FAD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912" y="4613148"/>
            <a:ext cx="2267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3030"/>
                </a:solidFill>
              </a:rPr>
              <a:t>NaN position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16352" y="4613148"/>
            <a:ext cx="15361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4A5C"/>
                </a:solidFill>
              </a:rPr>
              <a:t>~8k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62272" y="4613148"/>
            <a:ext cx="15361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88FA8"/>
                </a:solidFill>
              </a:rPr>
              <a:t>✗  No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08192" y="4613148"/>
            <a:ext cx="1719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88FA8"/>
                </a:solidFill>
              </a:rPr>
              <a:t>False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36992" y="4613148"/>
            <a:ext cx="1719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3030"/>
                </a:solidFill>
              </a:rPr>
              <a:t>False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65792" y="4613148"/>
            <a:ext cx="19933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3030"/>
                </a:solidFill>
              </a:rPr>
              <a:t>✗  NO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5230368"/>
            <a:ext cx="5486400" cy="1234440"/>
          </a:xfrm>
          <a:prstGeom prst="rect">
            <a:avLst/>
          </a:prstGeom>
          <a:solidFill>
            <a:srgbClr val="D6EAF8"/>
          </a:solidFill>
          <a:ln w="12700">
            <a:solidFill>
              <a:srgbClr val="007A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" y="5294376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4F80"/>
                </a:solidFill>
              </a:rPr>
              <a:t>Loss formula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5614416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4A5C"/>
                </a:solidFill>
              </a:rPr>
              <a:t>loss = Σ  MSE(pred, target) × recon_mask
     ÷  recon_mask.sum()  (true denominator)
≈ 42% of 49k positions contribute per step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26480" y="5230368"/>
            <a:ext cx="5715000" cy="1234440"/>
          </a:xfrm>
          <a:prstGeom prst="rect">
            <a:avLst/>
          </a:prstGeom>
          <a:solidFill>
            <a:srgbClr val="D5F0E4"/>
          </a:solidFill>
          <a:ln w="12700">
            <a:solidFill>
              <a:srgbClr val="008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63640" y="529437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045"/>
                </a:solidFill>
              </a:rPr>
              <a:t>Metrics (PCC, MAE) use same recon_mask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5614416"/>
            <a:ext cx="5394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4A5C"/>
                </a:solidFill>
              </a:rPr>
              <a:t>pred_values  = pred_betas[recon_mask]
true_values  = all_betas[recon_mask]
PCC computed only on real, held-out CpGs  →  honest metric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63A"/>
                </a:solidFill>
              </a:rPr>
              <a:t>Bug in Old Code vs. Correct Implementation in LLaMA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788FA8"/>
                </a:solidFill>
              </a:rPr>
              <a:t>Your LLaMA runs are NOT affected — the fix is already in wced_llama.py  ✓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11155680" cy="22860"/>
          </a:xfrm>
          <a:prstGeom prst="rect">
            <a:avLst/>
          </a:prstGeom>
          <a:solidFill>
            <a:srgbClr val="CC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61872"/>
            <a:ext cx="5577840" cy="5212080"/>
          </a:xfrm>
          <a:prstGeom prst="rect">
            <a:avLst/>
          </a:prstGeom>
          <a:solidFill>
            <a:srgbClr val="FFF5F5"/>
          </a:solidFill>
          <a:ln w="12700">
            <a:solidFill>
              <a:srgbClr val="C0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61872"/>
            <a:ext cx="5577840" cy="54864"/>
          </a:xfrm>
          <a:prstGeom prst="rect">
            <a:avLst/>
          </a:prstGeom>
          <a:solidFill>
            <a:srgbClr val="C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5331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03030"/>
                </a:solidFill>
              </a:rPr>
              <a:t>✗  BUG — wced_module.py  (SCBert)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55648"/>
            <a:ext cx="1645920" cy="256032"/>
          </a:xfrm>
          <a:prstGeom prst="rect">
            <a:avLst/>
          </a:prstGeom>
          <a:solidFill>
            <a:srgbClr val="FAD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75564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3030"/>
                </a:solidFill>
              </a:rPr>
              <a:t>NOT YOUR RUN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231136"/>
            <a:ext cx="54864" cy="457200"/>
          </a:xfrm>
          <a:prstGeom prst="rect">
            <a:avLst/>
          </a:prstGeom>
          <a:solidFill>
            <a:srgbClr val="C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1284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030"/>
                </a:solidFill>
              </a:rPr>
              <a:t>recon_mask = ~input_mask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54203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</a:rPr>
              <a:t>valid_mask is in the batch dict but never read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980943"/>
            <a:ext cx="54864" cy="457200"/>
          </a:xfrm>
          <a:prstGeom prst="rect">
            <a:avLst/>
          </a:prstGeom>
          <a:solidFill>
            <a:srgbClr val="C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962655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030"/>
                </a:solidFill>
              </a:rPr>
              <a:t>Denominator includes NaN positions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291839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</a:rPr>
              <a:t>~29k NaN positions with target=0 are in the loss denominator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730752"/>
            <a:ext cx="54864" cy="457200"/>
          </a:xfrm>
          <a:prstGeom prst="rect">
            <a:avLst/>
          </a:prstGeom>
          <a:solidFill>
            <a:srgbClr val="C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71246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030"/>
                </a:solidFill>
              </a:rPr>
              <a:t>75% of gradient is from fake zeros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04164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</a:rPr>
              <a:t>model is trained on artificial 0.0 values it never actually saw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480559"/>
            <a:ext cx="54864" cy="457200"/>
          </a:xfrm>
          <a:prstGeom prst="rect">
            <a:avLst/>
          </a:prstGeom>
          <a:solidFill>
            <a:srgbClr val="C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462271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030"/>
                </a:solidFill>
              </a:rPr>
              <a:t>MSE looks artificially 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4791455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</a:rPr>
              <a:t>easy-to-predict zeros pull the loss down — misleading metric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230368"/>
            <a:ext cx="54864" cy="457200"/>
          </a:xfrm>
          <a:prstGeom prst="rect">
            <a:avLst/>
          </a:prstGeom>
          <a:solidFill>
            <a:srgbClr val="C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2120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030"/>
                </a:solidFill>
              </a:rPr>
              <a:t>PCC computed on all non-input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54126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</a:rPr>
              <a:t>correlation diluted by 29k positions with target=0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1261872"/>
            <a:ext cx="5257800" cy="5212080"/>
          </a:xfrm>
          <a:prstGeom prst="rect">
            <a:avLst/>
          </a:prstGeom>
          <a:solidFill>
            <a:srgbClr val="F0FBF5"/>
          </a:solidFill>
          <a:ln w="12700">
            <a:solidFill>
              <a:srgbClr val="008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0" y="1261872"/>
            <a:ext cx="5257800" cy="54864"/>
          </a:xfrm>
          <a:prstGeom prst="rect">
            <a:avLst/>
          </a:prstGeom>
          <a:solidFill>
            <a:srgbClr val="00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0840" y="135331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8F6A"/>
                </a:solidFill>
              </a:rPr>
              <a:t>✓  CORRECT — wced_llama.py  (LLaMA)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20840" y="1755648"/>
            <a:ext cx="2468880" cy="256032"/>
          </a:xfrm>
          <a:prstGeom prst="rect">
            <a:avLst/>
          </a:prstGeom>
          <a:solidFill>
            <a:srgbClr val="D5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20840" y="175564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6045"/>
                </a:solidFill>
              </a:rPr>
              <a:t>YOUR PRETRAIN RUN 44450919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20840" y="2231136"/>
            <a:ext cx="54864" cy="457200"/>
          </a:xfrm>
          <a:prstGeom prst="rect">
            <a:avLst/>
          </a:prstGeom>
          <a:solidFill>
            <a:srgbClr val="00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76288" y="221284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F6A"/>
                </a:solidFill>
              </a:rPr>
              <a:t>recon_mask = ~input_mask  AND  valid_mask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76288" y="254203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</a:rPr>
              <a:t>valid_mask explicitly applied — NaN positions excluded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20840" y="2980943"/>
            <a:ext cx="54864" cy="457200"/>
          </a:xfrm>
          <a:prstGeom prst="rect">
            <a:avLst/>
          </a:prstGeom>
          <a:solidFill>
            <a:srgbClr val="00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76288" y="2962655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F6A"/>
                </a:solidFill>
              </a:rPr>
              <a:t>Denominator = recon_mask.sum()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76288" y="3291839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</a:rPr>
              <a:t>only counts positions that are real AND held-out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720840" y="3730752"/>
            <a:ext cx="54864" cy="457200"/>
          </a:xfrm>
          <a:prstGeom prst="rect">
            <a:avLst/>
          </a:prstGeom>
          <a:solidFill>
            <a:srgbClr val="00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76288" y="3712464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F6A"/>
                </a:solidFill>
              </a:rPr>
              <a:t>100% of gradient from real CpGs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76288" y="404164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</a:rPr>
              <a:t>every position contributing to loss has a true β measurement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20840" y="4480559"/>
            <a:ext cx="54864" cy="457200"/>
          </a:xfrm>
          <a:prstGeom prst="rect">
            <a:avLst/>
          </a:prstGeom>
          <a:solidFill>
            <a:srgbClr val="00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76288" y="4462271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F6A"/>
                </a:solidFill>
              </a:rPr>
              <a:t>MSE is honest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76288" y="4791455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</a:rPr>
              <a:t>no artificial zeros — metric reflects true reconstruction quality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720840" y="5230368"/>
            <a:ext cx="54864" cy="457200"/>
          </a:xfrm>
          <a:prstGeom prst="rect">
            <a:avLst/>
          </a:prstGeom>
          <a:solidFill>
            <a:srgbClr val="00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76288" y="521208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F6A"/>
                </a:solidFill>
              </a:rPr>
              <a:t>PCC on real held-out only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76288" y="5541264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</a:rPr>
              <a:t>correlation computed on the same clean mask as the loss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6492240"/>
            <a:ext cx="11475720" cy="201168"/>
          </a:xfrm>
          <a:prstGeom prst="rect">
            <a:avLst/>
          </a:prstGeom>
          <a:solidFill>
            <a:srgbClr val="F2F6FB"/>
          </a:solidFill>
          <a:ln w="12700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6045"/>
                </a:solidFill>
              </a:rPr>
              <a:t>Signal quality:  OLD = 25% real  ·  NEW = ~100% real     Metric honesty:  OLD = inflated  ·  NEW = correct     Your run:  ✓ Already correct from day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63A"/>
                </a:solidFill>
              </a:rPr>
              <a:t>Pretrain Results — Run 44450919  (Epoch 99 / 300)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788FA8"/>
                </a:solidFill>
              </a:rPr>
              <a:t>llama-small-all49k-r0.5-w0.0  ·  256D × 4L × 4H  ·  ~5M params  ·  Runtime: ~4.5 days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11155680" cy="22860"/>
          </a:xfrm>
          <a:prstGeom prst="rect">
            <a:avLst/>
          </a:prstGeom>
          <a:solidFill>
            <a:srgbClr val="CC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61872"/>
            <a:ext cx="2651760" cy="1143000"/>
          </a:xfrm>
          <a:prstGeom prst="rect">
            <a:avLst/>
          </a:prstGeom>
          <a:solidFill>
            <a:srgbClr val="D5F0E4"/>
          </a:solidFill>
          <a:ln w="12700">
            <a:solidFill>
              <a:srgbClr val="008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35024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8F6A"/>
                </a:solidFill>
              </a:rPr>
              <a:t>0.971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92224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A4A5C"/>
                </a:solidFill>
              </a:rPr>
              <a:t>val / pcc
Reconstruction quality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261872"/>
            <a:ext cx="2651760" cy="1143000"/>
          </a:xfrm>
          <a:prstGeom prst="rect">
            <a:avLst/>
          </a:prstGeom>
          <a:solidFill>
            <a:srgbClr val="D6EAF8"/>
          </a:solidFill>
          <a:ln w="12700">
            <a:solidFill>
              <a:srgbClr val="007A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335024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7AC2"/>
                </a:solidFill>
              </a:rPr>
              <a:t>0.043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1792224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A4A5C"/>
                </a:solidFill>
              </a:rPr>
              <a:t>val / mae
β error on [0, 1]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261872"/>
            <a:ext cx="2651760" cy="1143000"/>
          </a:xfrm>
          <a:prstGeom prst="rect">
            <a:avLst/>
          </a:prstGeom>
          <a:solidFill>
            <a:srgbClr val="D6EAF8"/>
          </a:solidFill>
          <a:ln w="12700">
            <a:solidFill>
              <a:srgbClr val="007A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335024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7AC2"/>
                </a:solidFill>
              </a:rPr>
              <a:t>0.006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792224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A4A5C"/>
                </a:solidFill>
              </a:rPr>
              <a:t>val / loss
Recon MSE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0" y="1261872"/>
            <a:ext cx="2651760" cy="1143000"/>
          </a:xfrm>
          <a:prstGeom prst="rect">
            <a:avLst/>
          </a:prstGeom>
          <a:solidFill>
            <a:srgbClr val="FDEAC8"/>
          </a:solidFill>
          <a:ln w="12700">
            <a:solidFill>
              <a:srgbClr val="D47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6840" y="1335024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D47E00"/>
                </a:solidFill>
              </a:rPr>
              <a:t>42.0%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1792224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A4A5C"/>
                </a:solidFill>
              </a:rPr>
              <a:t>valid_pct
Useful positions / step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257860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AC2"/>
                </a:solidFill>
              </a:rPr>
              <a:t>CLS COLLAPSE DIAGNOSTICS  (collapsed = bad)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852928"/>
            <a:ext cx="2651760" cy="1143000"/>
          </a:xfrm>
          <a:prstGeom prst="rect">
            <a:avLst/>
          </a:prstGeom>
          <a:solidFill>
            <a:srgbClr val="D5F0E4"/>
          </a:solidFill>
          <a:ln w="12700">
            <a:solidFill>
              <a:srgbClr val="008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92608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8F6A"/>
                </a:solidFill>
              </a:rPr>
              <a:t>0.376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33832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A4A5C"/>
                </a:solidFill>
              </a:rPr>
              <a:t>cls_similarity
(1.0 = fully collapsed)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46120" y="2852928"/>
            <a:ext cx="2651760" cy="1143000"/>
          </a:xfrm>
          <a:prstGeom prst="rect">
            <a:avLst/>
          </a:prstGeom>
          <a:solidFill>
            <a:srgbClr val="D5F0E4"/>
          </a:solidFill>
          <a:ln w="12700">
            <a:solidFill>
              <a:srgbClr val="008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46120" y="292608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8F6A"/>
                </a:solidFill>
              </a:rPr>
              <a:t>0.429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33832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A4A5C"/>
                </a:solidFill>
              </a:rPr>
              <a:t>cls_variance
(0.0 = fully collapsed)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2852928"/>
            <a:ext cx="2651760" cy="1143000"/>
          </a:xfrm>
          <a:prstGeom prst="rect">
            <a:avLst/>
          </a:prstGeom>
          <a:solidFill>
            <a:srgbClr val="D5F0E4"/>
          </a:solidFill>
          <a:ln w="12700">
            <a:solidFill>
              <a:srgbClr val="008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292608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8F6A"/>
                </a:solidFill>
              </a:rPr>
              <a:t>0.310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33832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A4A5C"/>
                </a:solidFill>
              </a:rPr>
              <a:t>pred_std
(0.0 = predicting mean)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06840" y="2852928"/>
            <a:ext cx="2651760" cy="1143000"/>
          </a:xfrm>
          <a:prstGeom prst="rect">
            <a:avLst/>
          </a:prstGeom>
          <a:solidFill>
            <a:srgbClr val="FDEAC8"/>
          </a:solidFill>
          <a:ln w="12700">
            <a:solidFill>
              <a:srgbClr val="D47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06840" y="292608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D47E00"/>
                </a:solidFill>
              </a:rPr>
              <a:t>0.570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6840" y="33832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A4A5C"/>
                </a:solidFill>
              </a:rPr>
              <a:t>pred_var_ratio
(1.0 = perfect spread)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160520"/>
            <a:ext cx="5577840" cy="1874519"/>
          </a:xfrm>
          <a:prstGeom prst="rect">
            <a:avLst/>
          </a:prstGeom>
          <a:solidFill>
            <a:srgbClr val="F2F6FB"/>
          </a:solidFill>
          <a:ln w="12700">
            <a:solidFill>
              <a:srgbClr val="007A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224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AC2"/>
                </a:solidFill>
              </a:rPr>
              <a:t>NaN RATE INFERENCE FROM valid_pct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4553712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4A5C"/>
                </a:solidFill>
              </a:rPr>
              <a:t>valid_pct = (non-input ∩ non-NaN) / vocab = 42%
input = 50% of valid  →  non-input non-NaN = 50% of valid
→  valid (non-NaN) = 84% of 49,156
→  NaN rate ≈ 16%  (~41k of 49k probes measured per sample)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6480" y="4160520"/>
            <a:ext cx="5715000" cy="1874519"/>
          </a:xfrm>
          <a:prstGeom prst="rect">
            <a:avLst/>
          </a:prstGeom>
          <a:solidFill>
            <a:srgbClr val="F2F6FB"/>
          </a:solidFill>
          <a:ln w="12700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63640" y="4224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AC2"/>
                </a:solidFill>
              </a:rPr>
              <a:t>TRAINING HEALTH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455371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88FA8"/>
                </a:solidFill>
              </a:rPr>
              <a:t>cpg_scale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4553712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8F6A"/>
                </a:solidFill>
              </a:rPr>
              <a:t>3.68  ✓  (init=0.1 → growing healthily)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4901184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88FA8"/>
                </a:solidFill>
              </a:rPr>
              <a:t>grad_norm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0" y="4901184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7AC2"/>
                </a:solidFill>
              </a:rPr>
              <a:t>0.0018  (stable convergence)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5248656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88FA8"/>
                </a:solidFill>
              </a:rPr>
              <a:t>train/pcc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5248656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8F6A"/>
                </a:solidFill>
              </a:rPr>
              <a:t>0.970  (no overfitting)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559612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88FA8"/>
                </a:solidFill>
              </a:rPr>
              <a:t>LR @ ep 99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0" y="5596128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</a:rPr>
              <a:t>3.82e-4  (cosine decay on track)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6172200"/>
            <a:ext cx="11475720" cy="457200"/>
          </a:xfrm>
          <a:prstGeom prst="rect">
            <a:avLst/>
          </a:prstGeom>
          <a:solidFill>
            <a:srgbClr val="D5F0E4"/>
          </a:solidFill>
          <a:ln w="12700">
            <a:solidFill>
              <a:srgbClr val="008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62362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045"/>
                </a:solidFill>
              </a:rPr>
              <a:t>✓ No CLS collapse   ✓ Reconstruction excellent (PCC 0.971)   ⚠ pred_var_ratio = 0.57 — slight underdispersion (normal for pure reconstruction pretraining)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63A"/>
                </a:solidFill>
              </a:rPr>
              <a:t>Data Investigation Results — NaN Statistics  [PENDING]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788FA8"/>
                </a:solidFill>
              </a:rPr>
              <a:t>Run on cluster:  sbatch scripts/utils/investigate_data.sh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11155680" cy="22860"/>
          </a:xfrm>
          <a:prstGeom prst="rect">
            <a:avLst/>
          </a:prstGeom>
          <a:solidFill>
            <a:srgbClr val="CC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98448"/>
            <a:ext cx="11475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47E00"/>
                </a:solidFill>
              </a:rPr>
              <a:t>⏳  Results pending — run investigation script and fill in below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28800"/>
            <a:ext cx="5577840" cy="4160520"/>
          </a:xfrm>
          <a:prstGeom prst="rect">
            <a:avLst/>
          </a:prstGeom>
          <a:solidFill>
            <a:srgbClr val="F2F6FB"/>
          </a:solidFill>
          <a:ln w="12700">
            <a:solidFill>
              <a:srgbClr val="007A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901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AC2"/>
                </a:solidFill>
              </a:rPr>
              <a:t>PRETRAIN  (169k × 49k)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4A5C"/>
                </a:solidFill>
              </a:rPr>
              <a:t>Total NaN count:                [ TBD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432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4A5C"/>
                </a:solidFill>
              </a:rPr>
              <a:t>NaN %:                          [ TBD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546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4A5C"/>
                </a:solidFill>
              </a:rPr>
              <a:t>Samples with ≥1% NaN:          [ TBD 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566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4A5C"/>
                </a:solidFill>
              </a:rPr>
              <a:t>Samples with ≥10% NaN:         [ TBD 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97763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4A5C"/>
                </a:solidFill>
              </a:rPr>
              <a:t>Fully missing samples:          [ TBD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891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4A5C"/>
                </a:solidFill>
              </a:rPr>
              <a:t>CpGs with ≥50% NaN:            [ TBD 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8006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4A5C"/>
                </a:solidFill>
              </a:rPr>
              <a:t>Fully missing CpGs:             [ TBD 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828800"/>
            <a:ext cx="5394960" cy="4160520"/>
          </a:xfrm>
          <a:prstGeom prst="rect">
            <a:avLst/>
          </a:prstGeom>
          <a:solidFill>
            <a:srgbClr val="E8F4ED"/>
          </a:solidFill>
          <a:ln w="12700">
            <a:solidFill>
              <a:srgbClr val="008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1901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F6A"/>
                </a:solidFill>
              </a:rPr>
              <a:t>FINE-TUNE  (11.5k × 49k)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3317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4A5C"/>
                </a:solidFill>
              </a:rPr>
              <a:t>Total NaN count:            [ TBD 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743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4A5C"/>
                </a:solidFill>
              </a:rPr>
              <a:t>NaN %:                      [ TBD 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154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4A5C"/>
                </a:solidFill>
              </a:rPr>
              <a:t>Samples with ≥1% NaN:      [ TBD 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566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4A5C"/>
                </a:solidFill>
              </a:rPr>
              <a:t>Samples with ≥10% NaN:     [ TBD 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977639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4A5C"/>
                </a:solidFill>
              </a:rPr>
              <a:t>Train split NaN %:          [ TBD 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389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4A5C"/>
                </a:solidFill>
              </a:rPr>
              <a:t>Valid split NaN %:          [ TBD 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800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4A5C"/>
                </a:solidFill>
              </a:rPr>
              <a:t>Test  split NaN %:          [ TBD 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6108192"/>
            <a:ext cx="11475720" cy="502920"/>
          </a:xfrm>
          <a:prstGeom prst="rect">
            <a:avLst/>
          </a:prstGeom>
          <a:solidFill>
            <a:srgbClr val="D6EAF8"/>
          </a:solidFill>
          <a:ln w="12700">
            <a:solidFill>
              <a:srgbClr val="007A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17220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4F80"/>
                </a:solidFill>
              </a:rPr>
              <a:t>Expected from valid_pct ≈ 42%:  NaN rate ≈ 16% in pretrain  ·  Fine-tune NaN rate may differ (different sample sources / array types)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63A"/>
                </a:solidFill>
              </a:rPr>
              <a:t>Data Investigation Results — Beta Distribution  [PENDING]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788FA8"/>
                </a:solidFill>
              </a:rPr>
              <a:t>Run on cluster:  sbatch scripts/utils/investigate_data.sh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11155680" cy="22860"/>
          </a:xfrm>
          <a:prstGeom prst="rect">
            <a:avLst/>
          </a:prstGeom>
          <a:solidFill>
            <a:srgbClr val="CC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98448"/>
            <a:ext cx="11475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47E00"/>
                </a:solidFill>
              </a:rPr>
              <a:t>⏳  Results pending — paste percentile output from investigation script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28800"/>
            <a:ext cx="5577840" cy="4160520"/>
          </a:xfrm>
          <a:prstGeom prst="rect">
            <a:avLst/>
          </a:prstGeom>
          <a:solidFill>
            <a:srgbClr val="F2F6FB"/>
          </a:solidFill>
          <a:ln w="12700">
            <a:solidFill>
              <a:srgbClr val="007A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901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AC2"/>
                </a:solidFill>
              </a:rPr>
              <a:t>PRETRAIN β-VALUE DISTRIBUTION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5915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88FA8"/>
                </a:solidFill>
              </a:rPr>
              <a:t>0% (min)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235915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A4A5C"/>
                </a:solidFill>
              </a:rPr>
              <a:t>[ TBD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0662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88FA8"/>
                </a:solidFill>
              </a:rPr>
              <a:t>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270662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A4A5C"/>
                </a:solidFill>
              </a:rPr>
              <a:t>[ TBD 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05409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88FA8"/>
                </a:solidFill>
              </a:rPr>
              <a:t>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305409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A4A5C"/>
                </a:solidFill>
              </a:rPr>
              <a:t>[ TBD 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40156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88FA8"/>
                </a:solidFill>
              </a:rPr>
              <a:t>25%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34015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A4A5C"/>
                </a:solidFill>
              </a:rPr>
              <a:t>[ TBD 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749039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88FA8"/>
                </a:solidFill>
              </a:rPr>
              <a:t>50% (median)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374903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A4A5C"/>
                </a:solidFill>
              </a:rPr>
              <a:t>[ TBD 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0965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88FA8"/>
                </a:solidFill>
              </a:rPr>
              <a:t>75%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409651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A4A5C"/>
                </a:solidFill>
              </a:rPr>
              <a:t>[ TBD 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44398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88FA8"/>
                </a:solidFill>
              </a:rPr>
              <a:t>95%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06040" y="444398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A4A5C"/>
                </a:solidFill>
              </a:rPr>
              <a:t>[ TBD 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79145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88FA8"/>
                </a:solidFill>
              </a:rPr>
              <a:t>99%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06040" y="479145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A4A5C"/>
                </a:solidFill>
              </a:rPr>
              <a:t>[ TBD 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13892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88FA8"/>
                </a:solidFill>
              </a:rPr>
              <a:t>100% (max)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06040" y="513892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A4A5C"/>
                </a:solidFill>
              </a:rPr>
              <a:t>[ TBD 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1828800"/>
            <a:ext cx="5394960" cy="4160520"/>
          </a:xfrm>
          <a:prstGeom prst="rect">
            <a:avLst/>
          </a:prstGeom>
          <a:solidFill>
            <a:srgbClr val="E8F4ED"/>
          </a:solidFill>
          <a:ln w="12700">
            <a:solidFill>
              <a:srgbClr val="008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1901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F6A"/>
                </a:solidFill>
              </a:rPr>
              <a:t>FINE-TUNE β-VALUE DISTRIBUTION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235915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88FA8"/>
                </a:solidFill>
              </a:rPr>
              <a:t>0% (min)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41080" y="235915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A4A5C"/>
                </a:solidFill>
              </a:rPr>
              <a:t>[ TBD 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270662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88FA8"/>
                </a:solidFill>
              </a:rPr>
              <a:t>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41080" y="270662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A4A5C"/>
                </a:solidFill>
              </a:rPr>
              <a:t>[ TBD 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305409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88FA8"/>
                </a:solidFill>
              </a:rPr>
              <a:t>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41080" y="305409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A4A5C"/>
                </a:solidFill>
              </a:rPr>
              <a:t>[ TBD 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340156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88FA8"/>
                </a:solidFill>
              </a:rPr>
              <a:t>25%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41080" y="34015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A4A5C"/>
                </a:solidFill>
              </a:rPr>
              <a:t>[ TBD 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3749039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88FA8"/>
                </a:solidFill>
              </a:rPr>
              <a:t>50% (median)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41080" y="374903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A4A5C"/>
                </a:solidFill>
              </a:rPr>
              <a:t>[ TBD 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40965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88FA8"/>
                </a:solidFill>
              </a:rPr>
              <a:t>75%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41080" y="409651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A4A5C"/>
                </a:solidFill>
              </a:rPr>
              <a:t>[ TBD 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444398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88FA8"/>
                </a:solidFill>
              </a:rPr>
              <a:t>95%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41080" y="444398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A4A5C"/>
                </a:solidFill>
              </a:rPr>
              <a:t>[ TBD 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479145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88FA8"/>
                </a:solidFill>
              </a:rPr>
              <a:t>99%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41080" y="479145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A4A5C"/>
                </a:solidFill>
              </a:rPr>
              <a:t>[ TBD 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0" y="513892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88FA8"/>
                </a:solidFill>
              </a:rPr>
              <a:t>100% (max)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41080" y="513892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A4A5C"/>
                </a:solidFill>
              </a:rPr>
              <a:t>[ TBD ]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6108192"/>
            <a:ext cx="11475720" cy="502920"/>
          </a:xfrm>
          <a:prstGeom prst="rect">
            <a:avLst/>
          </a:prstGeom>
          <a:solidFill>
            <a:srgbClr val="FDEAC8"/>
          </a:solidFill>
          <a:ln w="12700">
            <a:solidFill>
              <a:srgbClr val="D47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6172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A5A00"/>
                </a:solidFill>
              </a:rPr>
              <a:t>Out-of-range (β&lt;0 or β&gt;1):  [ TBD 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43400" y="6172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A5A00"/>
                </a:solidFill>
              </a:rPr>
              <a:t>Duplicate sample IDs:  [ TBD ]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83880" y="6172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A5A00"/>
                </a:solidFill>
              </a:rPr>
              <a:t>Duplicate CpG IDs:  [ TBD 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63A"/>
                </a:solidFill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788FA8"/>
                </a:solidFill>
              </a:rPr>
              <a:t>The full NaN handling chain is correct in both pretrain and fine-tune LLaMA runs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11155680" cy="22860"/>
          </a:xfrm>
          <a:prstGeom prst="rect">
            <a:avLst/>
          </a:prstGeom>
          <a:solidFill>
            <a:srgbClr val="CC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61872"/>
            <a:ext cx="5394960" cy="5257800"/>
          </a:xfrm>
          <a:prstGeom prst="rect">
            <a:avLst/>
          </a:prstGeom>
          <a:solidFill>
            <a:srgbClr val="F2F6FB"/>
          </a:solidFill>
          <a:ln w="12700">
            <a:solidFill>
              <a:srgbClr val="007A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5331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AC2"/>
                </a:solidFill>
              </a:rPr>
              <a:t>PIPELINE — WHAT EACH FILE DOES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37360"/>
            <a:ext cx="54864" cy="91440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92224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AC2"/>
                </a:solidFill>
              </a:rPr>
              <a:t>Step 1  ·  MethylationDataset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7627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</a:rPr>
              <a:t>Reads β  ·  computes valid_mask = isfinite(β)  ·  NaN preserved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816352"/>
            <a:ext cx="54864" cy="914400"/>
          </a:xfrm>
          <a:prstGeom prst="rect">
            <a:avLst/>
          </a:prstGeom>
          <a:solidFill>
            <a:srgbClr val="D4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871216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7E00"/>
                </a:solidFill>
              </a:rPr>
              <a:t>Step 2a  ·  WCEDCollator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255264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</a:rPr>
              <a:t>NaN → 0 in all_betas  ·  valid_mask stored in batch dict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895344"/>
            <a:ext cx="54864" cy="914400"/>
          </a:xfrm>
          <a:prstGeom prst="rect">
            <a:avLst/>
          </a:prstGeom>
          <a:solidFill>
            <a:srgbClr val="6A2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95020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A289A"/>
                </a:solidFill>
              </a:rPr>
              <a:t>Step 2b  ·  WCEDCollator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334256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</a:rPr>
              <a:t>Input views: only sample from valid_indices  ·  NaN never tokenised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974336"/>
            <a:ext cx="54864" cy="914400"/>
          </a:xfrm>
          <a:prstGeom prst="rect">
            <a:avLst/>
          </a:prstGeom>
          <a:solidFill>
            <a:srgbClr val="00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502920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F6A"/>
                </a:solidFill>
              </a:rPr>
              <a:t>Step 3  ·  WCEDLlamaModule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41324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</a:rPr>
              <a:t>recon_mask = ~input_mask &amp; valid_mask  ·  honest denominator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1261872"/>
            <a:ext cx="5669280" cy="2468880"/>
          </a:xfrm>
          <a:prstGeom prst="rect">
            <a:avLst/>
          </a:prstGeom>
          <a:solidFill>
            <a:srgbClr val="D5F0E4"/>
          </a:solidFill>
          <a:ln w="12700">
            <a:solidFill>
              <a:srgbClr val="008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135331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6045"/>
                </a:solidFill>
              </a:rPr>
              <a:t>YOUR LLAMA RUNS — STATUS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173736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6045"/>
                </a:solidFill>
              </a:rPr>
              <a:t>✓  Pretrain 44450919: correct NaN handling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17627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6045"/>
                </a:solidFill>
              </a:rPr>
              <a:t>✓  Fine-tune 44574410: recon_weight=0.0 → NaN irrelevant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2615184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6045"/>
                </a:solidFill>
              </a:rPr>
              <a:t>✓  wced_llama.py had the fix from the very start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054096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6045"/>
                </a:solidFill>
              </a:rPr>
              <a:t>✓  Bug exists only in old SCBert code (not your runs)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3858768"/>
            <a:ext cx="5669280" cy="2651760"/>
          </a:xfrm>
          <a:prstGeom prst="rect">
            <a:avLst/>
          </a:prstGeom>
          <a:solidFill>
            <a:srgbClr val="FDEAC8"/>
          </a:solidFill>
          <a:ln w="12700">
            <a:solidFill>
              <a:srgbClr val="D47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395020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A5A00"/>
                </a:solidFill>
              </a:rPr>
              <a:t>PRETRAIN QUALITY  (EPOCH 99)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431596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F6A"/>
                </a:solidFill>
              </a:rPr>
              <a:t>PCC = 0.971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4315968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</a:rPr>
              <a:t>excellent reconstruction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46634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F6A"/>
                </a:solidFill>
              </a:rPr>
              <a:t>MAE = 0.043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49640" y="466344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</a:rPr>
              <a:t>4.3% error on [0,1]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501091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F6A"/>
                </a:solidFill>
              </a:rPr>
              <a:t>cls_similarity = 0.376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9640" y="5010912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</a:rPr>
              <a:t>no CLS collapse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5358383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F6A"/>
                </a:solidFill>
              </a:rPr>
              <a:t>cls_variance = 0.429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49640" y="5358383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</a:rPr>
              <a:t>healthy representation diversity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570585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7E00"/>
                </a:solidFill>
              </a:rPr>
              <a:t>pred_var_ratio = 0.570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49640" y="5705856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</a:rPr>
              <a:t>slight underdispersion — expected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6053327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AC2"/>
                </a:solidFill>
              </a:rPr>
              <a:t>valid_pct ≈ 42%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9640" y="6053327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A5C"/>
                </a:solidFill>
              </a:rPr>
              <a:t>NaN rate ≈ 16% in pretrain corpus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6583680"/>
            <a:ext cx="11475720" cy="201168"/>
          </a:xfrm>
          <a:prstGeom prst="rect">
            <a:avLst/>
          </a:prstGeom>
          <a:solidFill>
            <a:srgbClr val="F2F6FB"/>
          </a:solidFill>
          <a:ln w="12700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6601968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88FA8"/>
                </a:solidFill>
              </a:rPr>
              <a:t>Next: paste investigate_data.sh results into slides 11–12  ·  Monitor finetune val/r2 to assess if reconstruction pretraining transferred to age prediction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